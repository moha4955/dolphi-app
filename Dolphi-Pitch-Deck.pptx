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CBD5E1"/>
                </a:solidFill>
                <a:latin typeface="Arial"/>
              </a:defRPr>
            </a:pPr>
            <a:r>
              <a:rPr sz="1000" b="0" i="0" u="none" strike="noStrike">
                <a:solidFill>
                  <a:srgbClr val="CBD5E1"/>
                </a:solidFill>
                <a:latin typeface="Arial"/>
              </a:rPr>
              <a:t>Annual Recurring Revenue (AUD)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(AUD $M)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</c:v>
                </c:pt>
                <c:pt idx="1">
                  <c:v>2.4</c:v>
                </c:pt>
                <c:pt idx="2">
                  <c:v>6.2</c:v>
                </c:pt>
                <c:pt idx="3">
                  <c:v>14.8</c:v>
                </c:pt>
                <c:pt idx="4">
                  <c:v>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4A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65A8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🐬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74320" y="17373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DOLPHI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74320" y="2468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SUITE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999232"/>
            <a:ext cx="2377440" cy="274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1089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Australian Business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137160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Every channel.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in 10 minutes.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114800" y="2560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 ·  Social Media  ·  Email  ·  Blogs  ·  Paid Ads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Presentation  | 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7731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🐬  Dolphi Australia  |  dolphi.com.au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477316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Australian SMBs are struggling to manage fragmented, expensive marketing tools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371600"/>
            <a:ext cx="2057400" cy="2560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481328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💸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" y="20848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Tools, 5+ Bills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450592"/>
            <a:ext cx="18745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average SMB pays for Mailchimp, Hootsuite, SEMrush, a blog plugin and an ads manager separately — $400–$800/month combined.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23160" y="1371600"/>
            <a:ext cx="2057400" cy="2560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481328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⏰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14600" y="20848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Lost Weekly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2450592"/>
            <a:ext cx="18745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owners spend 8–12 hours per week switching between platforms, scheduling posts, and manually creating content.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17720" y="1371600"/>
            <a:ext cx="2057400" cy="2560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481328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🧩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09160" y="20848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Unified Data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2450592"/>
            <a:ext cx="18745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data spread across 5 tools, there is no single view of ROI. Owners can't see which channel is actually driving revenue.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12280" y="1371600"/>
            <a:ext cx="2057400" cy="2560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481328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😤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903720" y="208483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Complex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2450592"/>
            <a:ext cx="18745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tools are built for agencies and experts. Small business owners have no time to learn 5 different platforms.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1920240" cy="1097280"/>
          </a:xfrm>
          <a:prstGeom prst="rect">
            <a:avLst/>
          </a:prstGeom>
          <a:solidFill>
            <a:srgbClr val="065A82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408736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2.4M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48640" y="46360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Australian SMBs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0" y="3977640"/>
            <a:ext cx="1920240" cy="1097280"/>
          </a:xfrm>
          <a:prstGeom prst="rect">
            <a:avLst/>
          </a:prstGeom>
          <a:solidFill>
            <a:srgbClr val="065A82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743200" y="408736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2743200" y="46360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4+ Marketing Tools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37760" y="3977640"/>
            <a:ext cx="1920240" cy="1097280"/>
          </a:xfrm>
          <a:prstGeom prst="rect">
            <a:avLst/>
          </a:prstGeom>
          <a:solidFill>
            <a:srgbClr val="065A82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37760" y="408736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$580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937760" y="46360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Monthly Tool Spend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32320" y="3977640"/>
            <a:ext cx="1920240" cy="1097280"/>
          </a:xfrm>
          <a:prstGeom prst="rect">
            <a:avLst/>
          </a:prstGeom>
          <a:solidFill>
            <a:srgbClr val="065A82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132320" y="408736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7132320" y="463600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 a Simpler Solution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7731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🐬  Dolphi Australia  |  dolphi.com.au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477316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2286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7315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to replace them all — powered by AI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23444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234440"/>
            <a:ext cx="196596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3258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" y="17830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Tools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2057400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research, rank tracking, on-page audits and automatic meta tag generation.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304288" y="123444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04288" y="1234440"/>
            <a:ext cx="196596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04288" y="13258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395728" y="17830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395728" y="2057400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posts to Facebook, Instagram, LinkedIn &amp; TikTok from a single calendar.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79976" y="123444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79976" y="1234440"/>
            <a:ext cx="196596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79976" y="13258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📧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471416" y="17830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Marketing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71416" y="2057400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Drag-and-drop builder, automated sequences, open &amp; click tracking.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55664" y="123444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55664" y="1234440"/>
            <a:ext cx="196596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13258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547104" y="17830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&amp; Content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47104" y="2057400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writes SEO-optimised blog posts and publishes them directly to your website.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2999232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2999232"/>
            <a:ext cx="196596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30906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💰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20040" y="35478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Ads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0040" y="3822192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Google &amp; Meta ad copy with budget tracking and ROAS reporting.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304288" y="2999232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304288" y="2999232"/>
            <a:ext cx="196596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04288" y="30906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2395728" y="35478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395728" y="3822192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dashboard showing reach, leads, ROI and channel performance at a glance.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379976" y="2999232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379976" y="2999232"/>
            <a:ext cx="196596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79976" y="30906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4471416" y="35478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Content Engine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471416" y="3822192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a brief — get posts, emails, blog and ad copy generated in under 30 seconds.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455664" y="2999232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455664" y="2999232"/>
            <a:ext cx="196596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55664" y="3090672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547104" y="354787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in 10 min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547104" y="3822192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→ connect socials → brief your campaign → go live. No agency needed.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7731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🐬  Dolphi Australia  |  dolphi.com.au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477316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7315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sign-up to live campaign — in one seamless flow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" y="1325880"/>
            <a:ext cx="1389888" cy="2651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" y="1389888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3898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" y="1938528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" y="242316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&amp; Profile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2880" y="2798064"/>
            <a:ext cx="12618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registers, adds their details and industry. Takes 90 seconds.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499616" y="1847088"/>
            <a:ext cx="109728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9344" y="1325880"/>
            <a:ext cx="1389888" cy="2651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75688" y="1389888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75688" y="13898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9344" y="1938528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82496" y="242316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Socials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682496" y="2798064"/>
            <a:ext cx="12618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connect for Facebook, Instagram, LinkedIn, TikTok in one click each.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999232" y="1847088"/>
            <a:ext cx="109728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08960" y="1325880"/>
            <a:ext cx="1389888" cy="2651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75304" y="1389888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75304" y="13898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108960" y="1938528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✍️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182112" y="242316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Brief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182112" y="2798064"/>
            <a:ext cx="12618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the campaign goal, target audience, tone and budget. One paragraph.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498848" y="1847088"/>
            <a:ext cx="109728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08576" y="1325880"/>
            <a:ext cx="1389888" cy="2651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74920" y="1389888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13898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08576" y="1938528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681728" y="242316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All Content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81728" y="2798064"/>
            <a:ext cx="12618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creates posts, emails, blog post, meta tags and ad copy in &lt;30 sec.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998464" y="1847088"/>
            <a:ext cx="109728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08192" y="1325880"/>
            <a:ext cx="1389888" cy="2651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74536" y="1389888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74536" y="13898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08192" y="1938528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👁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181344" y="242316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Edit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81344" y="2798064"/>
            <a:ext cx="12618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owner reviews and tweaks AI-generated content with live preview.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498080" y="1847088"/>
            <a:ext cx="109728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07808" y="1325880"/>
            <a:ext cx="1389888" cy="2651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74152" y="1389888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74152" y="13898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607808" y="1938528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7680960" y="2423160"/>
            <a:ext cx="1261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&amp; Track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680960" y="2798064"/>
            <a:ext cx="12618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 launches across all channels. Real-time tracker shows results live.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1520" y="41605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time from sign-up to first live campaign: 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760720" y="41605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10 minutes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7731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🐬  Dolphi Australia  |  dolphi.com.au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477316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3840480" cy="3200400"/>
          </a:xfrm>
          <a:prstGeom prst="ellipse">
            <a:avLst/>
          </a:prstGeom>
          <a:solidFill>
            <a:srgbClr val="EEF9F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280160"/>
            <a:ext cx="3017520" cy="23774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783080"/>
            <a:ext cx="2011680" cy="13716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D2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98755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12801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$4.8B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600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Marketing Software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914400" y="1417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0" y="166420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195681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All-in-One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508760" y="1874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71600" y="2103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$180M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24231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5-year target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1920240" cy="1280160"/>
          </a:xfrm>
          <a:prstGeom prst="rect">
            <a:avLst/>
          </a:prstGeom>
          <a:solidFill>
            <a:srgbClr val="065A82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18872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2.4M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754880" y="1783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Australian SMBs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468880"/>
            <a:ext cx="1920240" cy="1280160"/>
          </a:xfrm>
          <a:prstGeom prst="rect">
            <a:avLst/>
          </a:prstGeom>
          <a:solidFill>
            <a:srgbClr val="EEF2FF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65176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754880" y="3246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digital ad growth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58000" y="1005840"/>
            <a:ext cx="1920240" cy="1280160"/>
          </a:xfrm>
          <a:prstGeom prst="rect">
            <a:avLst/>
          </a:prstGeom>
          <a:solidFill>
            <a:srgbClr val="EEF2FF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118872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858000" y="1783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4+ disconnected tools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58000" y="2468880"/>
            <a:ext cx="1920240" cy="1280160"/>
          </a:xfrm>
          <a:prstGeom prst="rect">
            <a:avLst/>
          </a:prstGeom>
          <a:solidFill>
            <a:srgbClr val="065A82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265176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$580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858000" y="32461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monthly tool spend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7731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🐬  Dolphi Australia  |  dolphi.com.au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477316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Dolphi Wins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914400"/>
          <a:ext cx="86868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34440"/>
                <a:gridCol w="1234440"/>
                <a:gridCol w="1234440"/>
                <a:gridCol w="1234440"/>
                <a:gridCol w="12344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Dolphi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HubSpot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Mailchimp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Hootsuite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SEMrush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channels in one platform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content generation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B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Campaign builder + tracker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 for Australian SMBs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B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Blog + SEO + Social + Email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4D39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Starting price (AUD/mo)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$72+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$130+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$160+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B3E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816352" y="896112"/>
            <a:ext cx="1234440" cy="3749040"/>
          </a:xfrm>
          <a:prstGeom prst="rect">
            <a:avLst/>
          </a:prstGeom>
          <a:solidFill>
            <a:srgbClr val="00A896">
              <a:alpha val="12000"/>
            </a:srgbClr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8600" y="4224528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Dolphi is the ONLY platform combining AI content generation, all-channel marketing, and Australian-first pricing in one tool.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7731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🐬  Dolphi Australia  |  dolphi.com.au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477316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&amp; Pricing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2788920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137160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month AUD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249424"/>
            <a:ext cx="2148840" cy="18288"/>
          </a:xfrm>
          <a:prstGeom prst="rect">
            <a:avLst/>
          </a:prstGeom>
          <a:solidFill>
            <a:srgbClr val="D1E8F0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23042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3 Active Campaigns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93192" y="25968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Social Media (2 platforms)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93192" y="288950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Email Marketing (500 contacts)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93192" y="31821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Basic SEO Tools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93192" y="3474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 Content: 15 pieces / month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0" y="868680"/>
            <a:ext cx="2788920" cy="3675888"/>
          </a:xfrm>
          <a:prstGeom prst="rect">
            <a:avLst/>
          </a:prstGeom>
          <a:solidFill>
            <a:srgbClr val="065A82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868680"/>
            <a:ext cx="278892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89611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37560" y="12344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337560" y="160020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$129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3337560" y="21488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month AUD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20440" y="2487168"/>
            <a:ext cx="2148840" cy="1828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25420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Unlimited Campaigns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64992" y="2834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All 4 Platforms + TikTok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64992" y="31272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Email (5,000 contacts)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64992" y="341985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Full SEO Suite + Rank Tracking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64992" y="371246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 Content: Unlimited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64992" y="40050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Blog Publisher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64992" y="4297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Paid Ads Integration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72200" y="868680"/>
            <a:ext cx="2788920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10058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309360" y="137160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$349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6309360" y="19202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month AUD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92240" y="2249424"/>
            <a:ext cx="2148840" cy="18288"/>
          </a:xfrm>
          <a:prstGeom prst="rect">
            <a:avLst/>
          </a:prstGeom>
          <a:solidFill>
            <a:srgbClr val="D1E8F0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36792" y="23042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Everything in Pro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336792" y="259689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Up to 10 Business Accounts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336792" y="288950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White-label Dashboard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336792" y="31821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Client Reporting PDF Export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336792" y="3474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Priority Support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336792" y="37673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API Access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28600" y="46451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Model: Monthly SaaS subscriptions (80%) + add-ons: extra AI credits, additional email contacts, SMS (20%)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7731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🐬  Dolphi Australia  |  dolphi.com.au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477316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Projections</a:t>
            </a:r>
            <a:endParaRPr lang="en-US" sz="2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91440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914400"/>
          <a:ext cx="37490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466344"/>
                <a:gridCol w="466344"/>
                <a:gridCol w="466344"/>
                <a:gridCol w="466344"/>
                <a:gridCol w="46634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Yr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Yr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Yr 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Yr 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Yr 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A8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 (AUD)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$0.8M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$2.4M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$6.2M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$14.8M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A8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B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Rev / Customer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A8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Margin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A8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2B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 CAC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A8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D3556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4297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Assumptions: Avg 15% MoM growth Y1–Y2 → 8% Y3 → 5% Y4–Y5. Churn rate 4%/month → 2.5% by Y3.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7731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🐬  Dolphi Australia  |  dolphi.com.au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477316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Strategy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2788920" cy="3611880"/>
          </a:xfrm>
          <a:prstGeom prst="rect">
            <a:avLst/>
          </a:prstGeom>
          <a:solidFill>
            <a:srgbClr val="F8FB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868680"/>
            <a:ext cx="278892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77824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Months 1–6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463040"/>
            <a:ext cx="2578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SMB Acquisition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" y="1920240"/>
            <a:ext cx="2578608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 targeting 'marketing tools Australia'. Referral program ($50 credit). SMB Facebook communities. Content marketing via Dolphi's own platform.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868680"/>
            <a:ext cx="2788920" cy="3611880"/>
          </a:xfrm>
          <a:prstGeom prst="rect">
            <a:avLst/>
          </a:prstGeom>
          <a:solidFill>
            <a:srgbClr val="F8FB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868680"/>
            <a:ext cx="27889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877824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Months 7–12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10128" y="1463040"/>
            <a:ext cx="2578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Partnerships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10128" y="1920240"/>
            <a:ext cx="2578608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business accountants, bookkeepers &amp; web designers who service SMBs. White-label reseller program for digital agencies. BNI and chamber of commerce partnerships.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72200" y="868680"/>
            <a:ext cx="2788920" cy="3611880"/>
          </a:xfrm>
          <a:prstGeom prst="rect">
            <a:avLst/>
          </a:prstGeom>
          <a:solidFill>
            <a:srgbClr val="F8FBFF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868680"/>
            <a:ext cx="2788920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877824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Year 2+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81928" y="1463040"/>
            <a:ext cx="2578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&amp; Marketplace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81928" y="1920240"/>
            <a:ext cx="2578608" cy="245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marketplace (Shopify, Xero, MYOB, Squarespace). Franchise group contracts. Vertical SaaS expansions: Hospitality, Real Estate, Trades.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4636008"/>
            <a:ext cx="8686800" cy="18288"/>
          </a:xfrm>
          <a:prstGeom prst="rect">
            <a:avLst/>
          </a:prstGeom>
          <a:solidFill>
            <a:srgbClr val="D1E8F0"/>
          </a:solidFill>
          <a:ln w="12700">
            <a:solidFill>
              <a:srgbClr val="D1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466344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Acquisition Cost target: $250 AUD  |  LTV target: $2,800 AUD  |  LTV:CAC ratio target: 11:1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7731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🐬  Dolphi Australia  |  dolphi.com.au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477316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914400"/>
            <a:ext cx="256032" cy="256032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070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554480"/>
            <a:ext cx="2011680" cy="2606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910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Launch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Landing page &amp; onboarding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Campaign Builder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788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Content Engine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Social Scheduler (FB/IG/LI)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576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 Builder + Send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91840" y="914400"/>
            <a:ext cx="256032" cy="256032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12070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23160" y="1554480"/>
            <a:ext cx="2011680" cy="2606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15910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1460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TikTok integration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1460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SEO Rank Tracker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14600" y="2788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&amp; Meta Ads API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1460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Mobile App (beta)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1460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 A/B testing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40680" y="914400"/>
            <a:ext cx="256032" cy="256032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12070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1554480"/>
            <a:ext cx="2011680" cy="2606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5910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6344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Blog → Website publisher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66344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Analytics deep-dive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663440" y="2788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Stripe billing portal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6344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Team collaboration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66344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Agency white-label beta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589520" y="914400"/>
            <a:ext cx="256032" cy="256032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12070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2027+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20840" y="1554480"/>
            <a:ext cx="2011680" cy="2606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12280" y="15910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1228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Shopify / Xero connectors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81228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 for developers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812280" y="2788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Franchise bulk plans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1228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personalisation engine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81228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International expansion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77316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🐬  Dolphi Australia  |  dolphi.com.au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686800" y="477316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74980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 — AUD $1.5 Million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28600" y="1371600"/>
            <a:ext cx="2057400" cy="2286000"/>
          </a:xfrm>
          <a:prstGeom prst="rect">
            <a:avLst/>
          </a:prstGeom>
          <a:solidFill>
            <a:srgbClr val="065A82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4630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💻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28600" y="1938528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0040" y="250545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Development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283464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engineers (2 FE, 1 BE, 1 AI) · 12 months runway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23160" y="1371600"/>
            <a:ext cx="2057400" cy="2286000"/>
          </a:xfrm>
          <a:prstGeom prst="rect">
            <a:avLst/>
          </a:prstGeom>
          <a:solidFill>
            <a:srgbClr val="065A82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14630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📣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423160" y="1938528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514600" y="250545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Marketing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14600" y="283464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acquisition, content, partnerships, brand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17720" y="1371600"/>
            <a:ext cx="2057400" cy="2286000"/>
          </a:xfrm>
          <a:prstGeom prst="rect">
            <a:avLst/>
          </a:prstGeom>
          <a:solidFill>
            <a:srgbClr val="065A82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4630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617720" y="1938528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709160" y="250545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&amp; Ops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09160" y="283464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AWS, APIs, security, legal, compliance, finance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812280" y="1371600"/>
            <a:ext cx="2057400" cy="2286000"/>
          </a:xfrm>
          <a:prstGeom prst="rect">
            <a:avLst/>
          </a:prstGeom>
          <a:solidFill>
            <a:srgbClr val="065A82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14630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🏦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812280" y="1938528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903720" y="2505456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03720" y="283464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cash runway buffer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" y="38221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1,800 paying customers by end of Year 1  ·  ARR of $1.7M at 18 months  ·  Series A ready at Month 18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18795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Pre-money valuation: AUD $6M  |  Instrument: Convertible Note or SAFE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B3E"/>
          </a:solidFill>
          <a:ln w="12700">
            <a:solidFill>
              <a:srgbClr val="0D2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91440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🐬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the Future of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Australian Marketing — Together.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34015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dolphi.com.au  |  hello@dolphi.com.au  |  🇦🇺 Sydney, Australia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prepared March 2026  |  Confidential — For Investor Use Only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Dolphi Marketing Suite — Pitch Deck</dc:title>
  <dc:subject>PptxGenJS Presentation</dc:subject>
  <dc:creator>Dolphi Australia</dc:creator>
  <cp:lastModifiedBy>Dolphi Australia</cp:lastModifiedBy>
  <cp:revision>1</cp:revision>
  <dcterms:created xsi:type="dcterms:W3CDTF">2026-03-16T02:02:25Z</dcterms:created>
  <dcterms:modified xsi:type="dcterms:W3CDTF">2026-03-16T02:02:25Z</dcterms:modified>
</cp:coreProperties>
</file>